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226"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dy  Osama Mohammed El-Sayed Farag" userId="ce30e293-d0d5-48cf-89a7-3adfd3b27b58" providerId="ADAL" clId="{6ED7B234-E96D-48DF-8D42-FA690BF8F431}"/>
    <pc:docChg chg="modSld">
      <pc:chgData name="Hamdy  Osama Mohammed El-Sayed Farag" userId="ce30e293-d0d5-48cf-89a7-3adfd3b27b58" providerId="ADAL" clId="{6ED7B234-E96D-48DF-8D42-FA690BF8F431}" dt="2025-11-30T19:53:49.939" v="4" actId="20577"/>
      <pc:docMkLst>
        <pc:docMk/>
      </pc:docMkLst>
      <pc:sldChg chg="modSp mod">
        <pc:chgData name="Hamdy  Osama Mohammed El-Sayed Farag" userId="ce30e293-d0d5-48cf-89a7-3adfd3b27b58" providerId="ADAL" clId="{6ED7B234-E96D-48DF-8D42-FA690BF8F431}" dt="2025-11-30T19:53:49.939" v="4" actId="20577"/>
        <pc:sldMkLst>
          <pc:docMk/>
          <pc:sldMk cId="0" sldId="281"/>
        </pc:sldMkLst>
        <pc:spChg chg="mod">
          <ac:chgData name="Hamdy  Osama Mohammed El-Sayed Farag" userId="ce30e293-d0d5-48cf-89a7-3adfd3b27b58" providerId="ADAL" clId="{6ED7B234-E96D-48DF-8D42-FA690BF8F431}" dt="2025-11-30T19:53:49.939" v="4" actId="20577"/>
          <ac:spMkLst>
            <pc:docMk/>
            <pc:sldMk cId="0" sldId="281"/>
            <ac:spMk id="22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a091808e4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a091808e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aa091808e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aa091808e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aa091808e4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aa091808e4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aa091808e4_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aa091808e4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aa091808e4_1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aa091808e4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aa091808e4_1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aa091808e4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aa091808e4_1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aa091808e4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aa7c5cff85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aa7c5cff85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aa091808e4_1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aa091808e4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a407a43a7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a407a43a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aa407a43a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aa407a43a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aa407a43a7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aa407a43a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aa407a43a7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aa407a43a7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aa85b7196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aa85b7196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a85b71960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aa85b7196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aa85b71960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aa85b7196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aa85b71960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aa85b7196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aa85b71960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aa85b7196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aa407a43a7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aa407a43a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aa407a43a7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aa407a43a7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aa407a43a7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aa407a43a7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aa407a43a7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aa407a43a7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aa407a43a7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aa407a43a7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aa7c5cff85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aa7c5cff8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aa407a43a7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aa407a43a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aa7c5cff85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aa7c5cff85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aa7c5cff85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aa7c5cff85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aa7c5cff85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aa7c5cff8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aa7c5cff85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aa7c5cff85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aa7c5cff85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aa7c5cff8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aa7c5cff85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aa7c5cff85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aac9f9e315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aac9f9e31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aac9f9e31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aac9f9e31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aac9f9e315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aac9f9e31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localhost:5000/"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app.js" TargetMode="External"/><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Web Development</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a:t>CSE343</a:t>
            </a:r>
            <a:endParaRPr/>
          </a:p>
          <a:p>
            <a:pPr marL="0" lvl="0" indent="0" algn="ctr" rtl="0">
              <a:spcBef>
                <a:spcPts val="0"/>
              </a:spcBef>
              <a:spcAft>
                <a:spcPts val="0"/>
              </a:spcAft>
              <a:buNone/>
            </a:pPr>
            <a:r>
              <a:rPr lang="en"/>
              <a:t>Lab 9</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Express Continued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Express</a:t>
            </a:r>
            <a:endParaRPr/>
          </a:p>
        </p:txBody>
      </p:sp>
      <p:sp>
        <p:nvSpPr>
          <p:cNvPr id="66" name="Google Shape;66;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Last time we looked at what is express and how to use express framework to build our server.</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We also tried building a server and implementing some endpoints. Here is an example to refresh your mind a bit.</a:t>
            </a:r>
            <a:endParaRPr sz="1400">
              <a:solidFill>
                <a:srgbClr val="000000"/>
              </a:solidFill>
            </a:endParaRPr>
          </a:p>
        </p:txBody>
      </p:sp>
      <p:pic>
        <p:nvPicPr>
          <p:cNvPr id="67" name="Google Shape;67;p15"/>
          <p:cNvPicPr preferRelativeResize="0"/>
          <p:nvPr/>
        </p:nvPicPr>
        <p:blipFill rotWithShape="1">
          <a:blip r:embed="rId3">
            <a:alphaModFix/>
          </a:blip>
          <a:srcRect b="51753"/>
          <a:stretch/>
        </p:blipFill>
        <p:spPr>
          <a:xfrm>
            <a:off x="205375" y="2504050"/>
            <a:ext cx="4403275" cy="1860698"/>
          </a:xfrm>
          <a:prstGeom prst="rect">
            <a:avLst/>
          </a:prstGeom>
          <a:noFill/>
          <a:ln>
            <a:noFill/>
          </a:ln>
        </p:spPr>
      </p:pic>
      <p:pic>
        <p:nvPicPr>
          <p:cNvPr id="68" name="Google Shape;68;p15"/>
          <p:cNvPicPr preferRelativeResize="0"/>
          <p:nvPr/>
        </p:nvPicPr>
        <p:blipFill rotWithShape="1">
          <a:blip r:embed="rId3">
            <a:alphaModFix/>
          </a:blip>
          <a:srcRect t="48070"/>
          <a:stretch/>
        </p:blipFill>
        <p:spPr>
          <a:xfrm>
            <a:off x="4745425" y="2504050"/>
            <a:ext cx="4090877" cy="18606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Sending back a File</a:t>
            </a:r>
            <a:endParaRPr/>
          </a:p>
        </p:txBody>
      </p:sp>
      <p:sp>
        <p:nvSpPr>
          <p:cNvPr id="74" name="Google Shape;74;p16"/>
          <p:cNvSpPr txBox="1">
            <a:spLocks noGrp="1"/>
          </p:cNvSpPr>
          <p:nvPr>
            <p:ph type="body" idx="1"/>
          </p:nvPr>
        </p:nvSpPr>
        <p:spPr>
          <a:xfrm>
            <a:off x="311700" y="1152475"/>
            <a:ext cx="8520600" cy="37386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What if I want to implement an endpoint that returns actually an html file instead of returning some text. To test this, I have created a dummy app as follows:</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I also refactored the ‘/’ endpoint to send the index.html in the response using the path module to resolve the absolute path</a:t>
            </a:r>
            <a:endParaRPr sz="1400">
              <a:solidFill>
                <a:srgbClr val="000000"/>
              </a:solidFill>
            </a:endParaRPr>
          </a:p>
          <a:p>
            <a:pPr marL="457200" lvl="0" indent="0" algn="l" rtl="0">
              <a:spcBef>
                <a:spcPts val="1200"/>
              </a:spcBef>
              <a:spcAft>
                <a:spcPts val="1200"/>
              </a:spcAft>
              <a:buNone/>
            </a:pPr>
            <a:endParaRPr sz="1400">
              <a:solidFill>
                <a:srgbClr val="000000"/>
              </a:solidFill>
            </a:endParaRPr>
          </a:p>
        </p:txBody>
      </p:sp>
      <p:pic>
        <p:nvPicPr>
          <p:cNvPr id="75" name="Google Shape;75;p16"/>
          <p:cNvPicPr preferRelativeResize="0"/>
          <p:nvPr/>
        </p:nvPicPr>
        <p:blipFill rotWithShape="1">
          <a:blip r:embed="rId3">
            <a:alphaModFix/>
          </a:blip>
          <a:srcRect r="52444"/>
          <a:stretch/>
        </p:blipFill>
        <p:spPr>
          <a:xfrm>
            <a:off x="607750" y="2749925"/>
            <a:ext cx="1757999" cy="1780750"/>
          </a:xfrm>
          <a:prstGeom prst="rect">
            <a:avLst/>
          </a:prstGeom>
          <a:noFill/>
          <a:ln>
            <a:noFill/>
          </a:ln>
        </p:spPr>
      </p:pic>
      <p:pic>
        <p:nvPicPr>
          <p:cNvPr id="76" name="Google Shape;76;p16"/>
          <p:cNvPicPr preferRelativeResize="0"/>
          <p:nvPr/>
        </p:nvPicPr>
        <p:blipFill>
          <a:blip r:embed="rId4">
            <a:alphaModFix/>
          </a:blip>
          <a:stretch>
            <a:fillRect/>
          </a:stretch>
        </p:blipFill>
        <p:spPr>
          <a:xfrm>
            <a:off x="2890475" y="3153775"/>
            <a:ext cx="5788974" cy="809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Sending back a File </a:t>
            </a:r>
            <a:r>
              <a:rPr lang="en" sz="1577"/>
              <a:t>(cont.)</a:t>
            </a:r>
            <a:endParaRPr sz="1577"/>
          </a:p>
        </p:txBody>
      </p:sp>
      <p:sp>
        <p:nvSpPr>
          <p:cNvPr id="82" name="Google Shape;82;p17"/>
          <p:cNvSpPr txBox="1">
            <a:spLocks noGrp="1"/>
          </p:cNvSpPr>
          <p:nvPr>
            <p:ph type="body" idx="1"/>
          </p:nvPr>
        </p:nvSpPr>
        <p:spPr>
          <a:xfrm>
            <a:off x="311700" y="1152475"/>
            <a:ext cx="5489700" cy="3804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The problem is that when we try to access this endpoint, the html will be sent back correctly, but the css and js files are not sent back so the webpage will be loaded as follows:</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If you take a look at the network tab in the browser you will find that the browser finds links to css and js files in the index.html file so it requests them from the backend </a:t>
            </a:r>
            <a:endParaRPr sz="1400">
              <a:solidFill>
                <a:srgbClr val="000000"/>
              </a:solidFill>
            </a:endParaRPr>
          </a:p>
          <a:p>
            <a:pPr marL="457200" lvl="0" indent="0" algn="l" rtl="0">
              <a:spcBef>
                <a:spcPts val="1200"/>
              </a:spcBef>
              <a:spcAft>
                <a:spcPts val="1200"/>
              </a:spcAft>
              <a:buNone/>
            </a:pPr>
            <a:endParaRPr sz="1400">
              <a:solidFill>
                <a:srgbClr val="000000"/>
              </a:solidFill>
            </a:endParaRPr>
          </a:p>
        </p:txBody>
      </p:sp>
      <p:pic>
        <p:nvPicPr>
          <p:cNvPr id="83" name="Google Shape;83;p17"/>
          <p:cNvPicPr preferRelativeResize="0"/>
          <p:nvPr/>
        </p:nvPicPr>
        <p:blipFill>
          <a:blip r:embed="rId3">
            <a:alphaModFix/>
          </a:blip>
          <a:stretch>
            <a:fillRect/>
          </a:stretch>
        </p:blipFill>
        <p:spPr>
          <a:xfrm>
            <a:off x="6558379" y="1210450"/>
            <a:ext cx="2247325" cy="3831981"/>
          </a:xfrm>
          <a:prstGeom prst="rect">
            <a:avLst/>
          </a:prstGeom>
          <a:noFill/>
          <a:ln>
            <a:noFill/>
          </a:ln>
        </p:spPr>
      </p:pic>
      <p:pic>
        <p:nvPicPr>
          <p:cNvPr id="84" name="Google Shape;84;p17"/>
          <p:cNvPicPr preferRelativeResize="0"/>
          <p:nvPr/>
        </p:nvPicPr>
        <p:blipFill>
          <a:blip r:embed="rId4">
            <a:alphaModFix/>
          </a:blip>
          <a:stretch>
            <a:fillRect/>
          </a:stretch>
        </p:blipFill>
        <p:spPr>
          <a:xfrm>
            <a:off x="697300" y="3036925"/>
            <a:ext cx="5614256" cy="820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Sending back a File </a:t>
            </a:r>
            <a:r>
              <a:rPr lang="en" sz="1577"/>
              <a:t>(cont.)</a:t>
            </a:r>
            <a:endParaRPr sz="1577"/>
          </a:p>
        </p:txBody>
      </p:sp>
      <p:sp>
        <p:nvSpPr>
          <p:cNvPr id="90" name="Google Shape;90;p18"/>
          <p:cNvSpPr txBox="1">
            <a:spLocks noGrp="1"/>
          </p:cNvSpPr>
          <p:nvPr>
            <p:ph type="body" idx="1"/>
          </p:nvPr>
        </p:nvSpPr>
        <p:spPr>
          <a:xfrm>
            <a:off x="311700" y="1152475"/>
            <a:ext cx="85599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Without express you will have to create separate endpoints for that as follows:</a:t>
            </a:r>
            <a:endParaRPr sz="1400">
              <a:solidFill>
                <a:srgbClr val="000000"/>
              </a:solidFill>
            </a:endParaRPr>
          </a:p>
          <a:p>
            <a:pPr marL="457200" lvl="0" indent="0" algn="l" rtl="0">
              <a:spcBef>
                <a:spcPts val="1200"/>
              </a:spcBef>
              <a:spcAft>
                <a:spcPts val="0"/>
              </a:spcAft>
              <a:buNone/>
            </a:pPr>
            <a:endParaRPr sz="1400">
              <a:solidFill>
                <a:srgbClr val="000000"/>
              </a:solidFill>
            </a:endParaRPr>
          </a:p>
          <a:p>
            <a:pPr marL="457200" lvl="0" indent="0" algn="l" rtl="0">
              <a:spcBef>
                <a:spcPts val="1200"/>
              </a:spcBef>
              <a:spcAft>
                <a:spcPts val="0"/>
              </a:spcAft>
              <a:buNone/>
            </a:pPr>
            <a:endParaRPr sz="1400">
              <a:solidFill>
                <a:srgbClr val="000000"/>
              </a:solidFill>
            </a:endParaRPr>
          </a:p>
          <a:p>
            <a:pPr marL="457200" lvl="0" indent="0" algn="l" rtl="0">
              <a:spcBef>
                <a:spcPts val="1200"/>
              </a:spcBef>
              <a:spcAft>
                <a:spcPts val="0"/>
              </a:spcAft>
              <a:buNone/>
            </a:pPr>
            <a:endParaRPr sz="1400">
              <a:solidFill>
                <a:srgbClr val="000000"/>
              </a:solidFill>
            </a:endParaRPr>
          </a:p>
          <a:p>
            <a:pPr marL="0" lvl="0" indent="0" algn="l" rtl="0">
              <a:spcBef>
                <a:spcPts val="1200"/>
              </a:spcBef>
              <a:spcAft>
                <a:spcPts val="0"/>
              </a:spcAft>
              <a:buNone/>
            </a:pPr>
            <a:endParaRPr sz="1400">
              <a:solidFill>
                <a:srgbClr val="000000"/>
              </a:solidFill>
            </a:endParaRPr>
          </a:p>
          <a:p>
            <a:pPr marL="457200" lvl="0" indent="-317500" algn="l" rtl="0">
              <a:spcBef>
                <a:spcPts val="1200"/>
              </a:spcBef>
              <a:spcAft>
                <a:spcPts val="0"/>
              </a:spcAft>
              <a:buClr>
                <a:srgbClr val="000000"/>
              </a:buClr>
              <a:buSzPts val="1400"/>
              <a:buChar char="-"/>
            </a:pPr>
            <a:r>
              <a:rPr lang="en" sz="1400">
                <a:solidFill>
                  <a:srgbClr val="000000"/>
                </a:solidFill>
              </a:rPr>
              <a:t>With express, you can use the express.static function. This is middleware that serves static files 'dummy-app' is the folder name where your static files live. Express will look for files in this folder when a request comes in</a:t>
            </a:r>
            <a:endParaRPr sz="1400">
              <a:solidFill>
                <a:srgbClr val="000000"/>
              </a:solidFill>
            </a:endParaRPr>
          </a:p>
        </p:txBody>
      </p:sp>
      <p:pic>
        <p:nvPicPr>
          <p:cNvPr id="91" name="Google Shape;91;p18"/>
          <p:cNvPicPr preferRelativeResize="0"/>
          <p:nvPr/>
        </p:nvPicPr>
        <p:blipFill>
          <a:blip r:embed="rId3">
            <a:alphaModFix/>
          </a:blip>
          <a:stretch>
            <a:fillRect/>
          </a:stretch>
        </p:blipFill>
        <p:spPr>
          <a:xfrm>
            <a:off x="2691063" y="1554375"/>
            <a:ext cx="3801175" cy="1483851"/>
          </a:xfrm>
          <a:prstGeom prst="rect">
            <a:avLst/>
          </a:prstGeom>
          <a:noFill/>
          <a:ln>
            <a:noFill/>
          </a:ln>
        </p:spPr>
      </p:pic>
      <p:pic>
        <p:nvPicPr>
          <p:cNvPr id="92" name="Google Shape;92;p18"/>
          <p:cNvPicPr preferRelativeResize="0"/>
          <p:nvPr/>
        </p:nvPicPr>
        <p:blipFill>
          <a:blip r:embed="rId4">
            <a:alphaModFix/>
          </a:blip>
          <a:stretch>
            <a:fillRect/>
          </a:stretch>
        </p:blipFill>
        <p:spPr>
          <a:xfrm>
            <a:off x="3591575" y="3939776"/>
            <a:ext cx="4539223" cy="971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Sending back a File </a:t>
            </a:r>
            <a:r>
              <a:rPr lang="en" sz="1577"/>
              <a:t>(cont.)</a:t>
            </a:r>
            <a:endParaRPr sz="1577"/>
          </a:p>
        </p:txBody>
      </p:sp>
      <p:sp>
        <p:nvSpPr>
          <p:cNvPr id="98" name="Google Shape;98;p19"/>
          <p:cNvSpPr txBox="1">
            <a:spLocks noGrp="1"/>
          </p:cNvSpPr>
          <p:nvPr>
            <p:ph type="body" idx="1"/>
          </p:nvPr>
        </p:nvSpPr>
        <p:spPr>
          <a:xfrm>
            <a:off x="311700" y="1152475"/>
            <a:ext cx="83139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This will also work if we remove the endpoint that sends the file and keep it like:</a:t>
            </a:r>
            <a:endParaRPr sz="1400">
              <a:solidFill>
                <a:srgbClr val="000000"/>
              </a:solidFill>
            </a:endParaRPr>
          </a:p>
          <a:p>
            <a:pPr marL="914400" lvl="0" indent="0" algn="l" rtl="0">
              <a:spcBef>
                <a:spcPts val="1200"/>
              </a:spcBef>
              <a:spcAft>
                <a:spcPts val="0"/>
              </a:spcAft>
              <a:buNone/>
            </a:pPr>
            <a:endParaRPr sz="1400">
              <a:solidFill>
                <a:srgbClr val="000000"/>
              </a:solidFill>
            </a:endParaRPr>
          </a:p>
          <a:p>
            <a:pPr marL="914400" lvl="0" indent="0" algn="l" rtl="0">
              <a:spcBef>
                <a:spcPts val="1200"/>
              </a:spcBef>
              <a:spcAft>
                <a:spcPts val="0"/>
              </a:spcAft>
              <a:buNone/>
            </a:pPr>
            <a:endParaRPr sz="1400">
              <a:solidFill>
                <a:srgbClr val="000000"/>
              </a:solidFill>
            </a:endParaRPr>
          </a:p>
          <a:p>
            <a:pPr marL="914400" lvl="0" indent="0" algn="l" rtl="0">
              <a:spcBef>
                <a:spcPts val="1200"/>
              </a:spcBef>
              <a:spcAft>
                <a:spcPts val="0"/>
              </a:spcAft>
              <a:buNone/>
            </a:pPr>
            <a:endParaRPr sz="1400">
              <a:solidFill>
                <a:srgbClr val="000000"/>
              </a:solidFill>
            </a:endParaRPr>
          </a:p>
          <a:p>
            <a:pPr marL="457200" lvl="0" indent="-317500" algn="l" rtl="0">
              <a:spcBef>
                <a:spcPts val="1200"/>
              </a:spcBef>
              <a:spcAft>
                <a:spcPts val="0"/>
              </a:spcAft>
              <a:buClr>
                <a:srgbClr val="000000"/>
              </a:buClr>
              <a:buSzPts val="1400"/>
              <a:buChar char="-"/>
            </a:pPr>
            <a:r>
              <a:rPr lang="en" sz="1400">
                <a:solidFill>
                  <a:srgbClr val="000000"/>
                </a:solidFill>
              </a:rPr>
              <a:t>When you use express.static(), you don't need res.sendFile() for static files anymore</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Express automatically serves all files from the public folder.</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Without express.static():</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Browser requests: GET /</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Express checks routes</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Finds: app.get('/', ...)</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Executes: res.sendFile('public/index.html')</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Sends file to browser</a:t>
            </a:r>
            <a:endParaRPr sz="1400">
              <a:solidFill>
                <a:srgbClr val="000000"/>
              </a:solidFill>
            </a:endParaRPr>
          </a:p>
        </p:txBody>
      </p:sp>
      <p:pic>
        <p:nvPicPr>
          <p:cNvPr id="99" name="Google Shape;99;p19"/>
          <p:cNvPicPr preferRelativeResize="0"/>
          <p:nvPr/>
        </p:nvPicPr>
        <p:blipFill>
          <a:blip r:embed="rId3">
            <a:alphaModFix/>
          </a:blip>
          <a:stretch>
            <a:fillRect/>
          </a:stretch>
        </p:blipFill>
        <p:spPr>
          <a:xfrm>
            <a:off x="2078188" y="1590775"/>
            <a:ext cx="5226324" cy="1014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Sending back a File </a:t>
            </a:r>
            <a:r>
              <a:rPr lang="en" sz="1577"/>
              <a:t>(cont.)</a:t>
            </a:r>
            <a:endParaRPr sz="1577"/>
          </a:p>
        </p:txBody>
      </p:sp>
      <p:sp>
        <p:nvSpPr>
          <p:cNvPr id="105" name="Google Shape;105;p20"/>
          <p:cNvSpPr txBox="1">
            <a:spLocks noGrp="1"/>
          </p:cNvSpPr>
          <p:nvPr>
            <p:ph type="body" idx="1"/>
          </p:nvPr>
        </p:nvSpPr>
        <p:spPr>
          <a:xfrm>
            <a:off x="311700" y="1152475"/>
            <a:ext cx="82341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With express.static():</a:t>
            </a:r>
            <a:endParaRPr sz="1400">
              <a:solidFill>
                <a:srgbClr val="000000"/>
              </a:solidFill>
            </a:endParaRPr>
          </a:p>
          <a:p>
            <a:pPr marL="914400" lvl="1" indent="-317500" algn="l" rtl="0">
              <a:spcBef>
                <a:spcPts val="0"/>
              </a:spcBef>
              <a:spcAft>
                <a:spcPts val="0"/>
              </a:spcAft>
              <a:buClr>
                <a:srgbClr val="000000"/>
              </a:buClr>
              <a:buSzPts val="1400"/>
              <a:buChar char="-"/>
            </a:pPr>
            <a:r>
              <a:rPr lang="en">
                <a:solidFill>
                  <a:srgbClr val="000000"/>
                </a:solidFill>
              </a:rPr>
              <a:t>Browser requests: GET /</a:t>
            </a:r>
            <a:endParaRPr>
              <a:solidFill>
                <a:srgbClr val="000000"/>
              </a:solidFill>
            </a:endParaRPr>
          </a:p>
          <a:p>
            <a:pPr marL="914400" lvl="1" indent="-317500" algn="l" rtl="0">
              <a:spcBef>
                <a:spcPts val="0"/>
              </a:spcBef>
              <a:spcAft>
                <a:spcPts val="0"/>
              </a:spcAft>
              <a:buClr>
                <a:srgbClr val="000000"/>
              </a:buClr>
              <a:buSzPts val="1400"/>
              <a:buChar char="-"/>
            </a:pPr>
            <a:r>
              <a:rPr lang="en">
                <a:solidFill>
                  <a:srgbClr val="000000"/>
                </a:solidFill>
              </a:rPr>
              <a:t>Express checks middleware FIRST</a:t>
            </a:r>
            <a:endParaRPr>
              <a:solidFill>
                <a:srgbClr val="000000"/>
              </a:solidFill>
            </a:endParaRPr>
          </a:p>
          <a:p>
            <a:pPr marL="914400" lvl="1" indent="-317500" algn="l" rtl="0">
              <a:spcBef>
                <a:spcPts val="0"/>
              </a:spcBef>
              <a:spcAft>
                <a:spcPts val="0"/>
              </a:spcAft>
              <a:buClr>
                <a:srgbClr val="000000"/>
              </a:buClr>
              <a:buSzPts val="1400"/>
              <a:buChar char="-"/>
            </a:pPr>
            <a:r>
              <a:rPr lang="en">
                <a:solidFill>
                  <a:srgbClr val="000000"/>
                </a:solidFill>
              </a:rPr>
              <a:t>express.static() says: "I'll handle this!"</a:t>
            </a:r>
            <a:endParaRPr>
              <a:solidFill>
                <a:srgbClr val="000000"/>
              </a:solidFill>
            </a:endParaRPr>
          </a:p>
          <a:p>
            <a:pPr marL="914400" lvl="1" indent="-317500" algn="l" rtl="0">
              <a:spcBef>
                <a:spcPts val="0"/>
              </a:spcBef>
              <a:spcAft>
                <a:spcPts val="0"/>
              </a:spcAft>
              <a:buClr>
                <a:srgbClr val="000000"/>
              </a:buClr>
              <a:buSzPts val="1400"/>
              <a:buChar char="-"/>
            </a:pPr>
            <a:r>
              <a:rPr lang="en">
                <a:solidFill>
                  <a:srgbClr val="000000"/>
                </a:solidFill>
              </a:rPr>
              <a:t>Looks in 'public' folder</a:t>
            </a:r>
            <a:endParaRPr>
              <a:solidFill>
                <a:srgbClr val="000000"/>
              </a:solidFill>
            </a:endParaRPr>
          </a:p>
          <a:p>
            <a:pPr marL="914400" lvl="1" indent="-317500" algn="l" rtl="0">
              <a:spcBef>
                <a:spcPts val="0"/>
              </a:spcBef>
              <a:spcAft>
                <a:spcPts val="0"/>
              </a:spcAft>
              <a:buClr>
                <a:srgbClr val="000000"/>
              </a:buClr>
              <a:buSzPts val="1400"/>
              <a:buChar char="-"/>
            </a:pPr>
            <a:r>
              <a:rPr lang="en">
                <a:solidFill>
                  <a:srgbClr val="000000"/>
                </a:solidFill>
              </a:rPr>
              <a:t>Finds index.html</a:t>
            </a:r>
            <a:endParaRPr>
              <a:solidFill>
                <a:srgbClr val="000000"/>
              </a:solidFill>
            </a:endParaRPr>
          </a:p>
          <a:p>
            <a:pPr marL="914400" lvl="1" indent="-317500" algn="l" rtl="0">
              <a:spcBef>
                <a:spcPts val="0"/>
              </a:spcBef>
              <a:spcAft>
                <a:spcPts val="0"/>
              </a:spcAft>
              <a:buClr>
                <a:srgbClr val="000000"/>
              </a:buClr>
              <a:buSzPts val="1400"/>
              <a:buChar char="-"/>
            </a:pPr>
            <a:r>
              <a:rPr lang="en">
                <a:solidFill>
                  <a:srgbClr val="000000"/>
                </a:solidFill>
              </a:rPr>
              <a:t>Automatically sends it to browser</a:t>
            </a:r>
            <a:endParaRPr>
              <a:solidFill>
                <a:srgbClr val="000000"/>
              </a:solidFill>
            </a:endParaRPr>
          </a:p>
          <a:p>
            <a:pPr marL="914400" lvl="1" indent="-317500" algn="l" rtl="0">
              <a:spcBef>
                <a:spcPts val="0"/>
              </a:spcBef>
              <a:spcAft>
                <a:spcPts val="0"/>
              </a:spcAft>
              <a:buClr>
                <a:srgbClr val="000000"/>
              </a:buClr>
              <a:buSzPts val="1400"/>
              <a:buChar char="-"/>
            </a:pPr>
            <a:r>
              <a:rPr lang="en">
                <a:solidFill>
                  <a:srgbClr val="000000"/>
                </a:solidFill>
              </a:rPr>
              <a:t>Never reaches your routes!</a:t>
            </a:r>
            <a:endParaRPr>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What counts as static files?</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Examples include: HTML files, CSS files, JavaScript files, Images (PNG, JPG, SVG, etc.), Fonts, PDFs</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You give Express a folder path, and it will automatically make all files inside that folder publicly accessible via HTTP.</a:t>
            </a:r>
            <a:endParaRPr sz="1400">
              <a:solidFill>
                <a:srgbClr val="000000"/>
              </a:solidFill>
            </a:endParaRPr>
          </a:p>
          <a:p>
            <a:pPr marL="0" lvl="0" indent="0" algn="l" rtl="0">
              <a:spcBef>
                <a:spcPts val="1200"/>
              </a:spcBef>
              <a:spcAft>
                <a:spcPts val="1200"/>
              </a:spcAft>
              <a:buNone/>
            </a:pP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Middleware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Middleware?</a:t>
            </a:r>
            <a:endParaRPr sz="1577"/>
          </a:p>
        </p:txBody>
      </p:sp>
      <p:sp>
        <p:nvSpPr>
          <p:cNvPr id="116" name="Google Shape;116;p22"/>
          <p:cNvSpPr txBox="1">
            <a:spLocks noGrp="1"/>
          </p:cNvSpPr>
          <p:nvPr>
            <p:ph type="body" idx="1"/>
          </p:nvPr>
        </p:nvSpPr>
        <p:spPr>
          <a:xfrm>
            <a:off x="311700" y="1152475"/>
            <a:ext cx="82341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Middleware is a function that has access to:</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req (request object)</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res (response object)</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next (function to pass control to the next middleware)</a:t>
            </a:r>
            <a:endParaRPr>
              <a:solidFill>
                <a:srgbClr val="000000"/>
              </a:solidFill>
            </a:endParaRPr>
          </a:p>
          <a:p>
            <a:pPr marL="457200" lvl="0" indent="-292100" algn="l" rtl="0">
              <a:spcBef>
                <a:spcPts val="0"/>
              </a:spcBef>
              <a:spcAft>
                <a:spcPts val="0"/>
              </a:spcAft>
              <a:buClr>
                <a:srgbClr val="000000"/>
              </a:buClr>
              <a:buSzPts val="1000"/>
              <a:buChar char="-"/>
            </a:pPr>
            <a:r>
              <a:rPr lang="en" sz="1400">
                <a:solidFill>
                  <a:srgbClr val="000000"/>
                </a:solidFill>
              </a:rPr>
              <a:t>Think of middleware as checkpoints or filters that every request passes through before reaching your routes.</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Each checkpoint:</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Inspects you (reads req)</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May modify your luggage (modifies req or res)</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Decides if you can proceed (next()) or stops you (res.send())</a:t>
            </a:r>
            <a:endParaRPr sz="140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Basic Middleware structure</a:t>
            </a:r>
            <a:endParaRPr sz="1577"/>
          </a:p>
        </p:txBody>
      </p:sp>
      <p:sp>
        <p:nvSpPr>
          <p:cNvPr id="122" name="Google Shape;122;p23"/>
          <p:cNvSpPr txBox="1">
            <a:spLocks noGrp="1"/>
          </p:cNvSpPr>
          <p:nvPr>
            <p:ph type="body" idx="1"/>
          </p:nvPr>
        </p:nvSpPr>
        <p:spPr>
          <a:xfrm>
            <a:off x="311700" y="1152475"/>
            <a:ext cx="82341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What happens when you visit </a:t>
            </a:r>
            <a:r>
              <a:rPr lang="en" sz="1400" u="sng">
                <a:solidFill>
                  <a:schemeClr val="hlink"/>
                </a:solidFill>
                <a:hlinkClick r:id="rId3"/>
              </a:rPr>
              <a:t>http://localhost:5000/</a:t>
            </a:r>
            <a:r>
              <a:rPr lang="en" sz="1400">
                <a:solidFill>
                  <a:srgbClr val="000000"/>
                </a:solidFill>
              </a:rPr>
              <a:t>:</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Request arrives: GET /</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logger middleware runs:</a:t>
            </a:r>
            <a:endParaRPr>
              <a:solidFill>
                <a:srgbClr val="000000"/>
              </a:solidFill>
            </a:endParaRPr>
          </a:p>
          <a:p>
            <a:pPr marL="1371600" lvl="2" indent="-317500" algn="l" rtl="0">
              <a:spcBef>
                <a:spcPts val="0"/>
              </a:spcBef>
              <a:spcAft>
                <a:spcPts val="0"/>
              </a:spcAft>
              <a:buClr>
                <a:srgbClr val="000000"/>
              </a:buClr>
              <a:buSzPts val="1400"/>
              <a:buChar char="-"/>
            </a:pPr>
            <a:r>
              <a:rPr lang="en" sz="1400">
                <a:solidFill>
                  <a:srgbClr val="000000"/>
                </a:solidFill>
              </a:rPr>
              <a:t>Logs: "GET /"</a:t>
            </a:r>
            <a:endParaRPr>
              <a:solidFill>
                <a:srgbClr val="000000"/>
              </a:solidFill>
            </a:endParaRPr>
          </a:p>
          <a:p>
            <a:pPr marL="1371600" lvl="2" indent="-317500" algn="l" rtl="0">
              <a:spcBef>
                <a:spcPts val="0"/>
              </a:spcBef>
              <a:spcAft>
                <a:spcPts val="0"/>
              </a:spcAft>
              <a:buClr>
                <a:srgbClr val="000000"/>
              </a:buClr>
              <a:buSzPts val="1400"/>
              <a:buChar char="-"/>
            </a:pPr>
            <a:r>
              <a:rPr lang="en" sz="1400">
                <a:solidFill>
                  <a:srgbClr val="000000"/>
                </a:solidFill>
              </a:rPr>
              <a:t>Calls next()</a:t>
            </a:r>
            <a:endParaRPr sz="1400">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Route handler runs:</a:t>
            </a:r>
            <a:endParaRPr>
              <a:solidFill>
                <a:srgbClr val="000000"/>
              </a:solidFill>
            </a:endParaRPr>
          </a:p>
          <a:p>
            <a:pPr marL="914400" lvl="1" indent="-317500" algn="l" rtl="0">
              <a:spcBef>
                <a:spcPts val="0"/>
              </a:spcBef>
              <a:spcAft>
                <a:spcPts val="0"/>
              </a:spcAft>
              <a:buClr>
                <a:srgbClr val="000000"/>
              </a:buClr>
              <a:buSzPts val="1400"/>
              <a:buChar char="-"/>
            </a:pPr>
            <a:r>
              <a:rPr lang="en" sz="1400">
                <a:solidFill>
                  <a:srgbClr val="000000"/>
                </a:solidFill>
              </a:rPr>
              <a:t>Sends: "Home Page"</a:t>
            </a:r>
            <a:endParaRPr sz="1400">
              <a:solidFill>
                <a:srgbClr val="000000"/>
              </a:solidFill>
            </a:endParaRPr>
          </a:p>
        </p:txBody>
      </p:sp>
      <p:pic>
        <p:nvPicPr>
          <p:cNvPr id="123" name="Google Shape;123;p23"/>
          <p:cNvPicPr preferRelativeResize="0"/>
          <p:nvPr/>
        </p:nvPicPr>
        <p:blipFill>
          <a:blip r:embed="rId4">
            <a:alphaModFix/>
          </a:blip>
          <a:stretch>
            <a:fillRect/>
          </a:stretch>
        </p:blipFill>
        <p:spPr>
          <a:xfrm>
            <a:off x="3282688" y="2204250"/>
            <a:ext cx="5176724" cy="2065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Types of Middleware </a:t>
            </a:r>
            <a:endParaRPr sz="1577"/>
          </a:p>
        </p:txBody>
      </p:sp>
      <p:sp>
        <p:nvSpPr>
          <p:cNvPr id="129" name="Google Shape;129;p24"/>
          <p:cNvSpPr txBox="1">
            <a:spLocks noGrp="1"/>
          </p:cNvSpPr>
          <p:nvPr>
            <p:ph type="body" idx="1"/>
          </p:nvPr>
        </p:nvSpPr>
        <p:spPr>
          <a:xfrm>
            <a:off x="311700" y="1152475"/>
            <a:ext cx="44796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There are several types of middleware:</a:t>
            </a:r>
            <a:endParaRPr sz="1400">
              <a:solidFill>
                <a:srgbClr val="000000"/>
              </a:solidFill>
            </a:endParaRPr>
          </a:p>
          <a:p>
            <a:pPr marL="914400" lvl="1" indent="-317500" algn="l" rtl="0">
              <a:spcBef>
                <a:spcPts val="0"/>
              </a:spcBef>
              <a:spcAft>
                <a:spcPts val="0"/>
              </a:spcAft>
              <a:buClr>
                <a:srgbClr val="000000"/>
              </a:buClr>
              <a:buSzPts val="1400"/>
              <a:buChar char="-"/>
            </a:pPr>
            <a:r>
              <a:rPr lang="en">
                <a:solidFill>
                  <a:srgbClr val="FF0000"/>
                </a:solidFill>
              </a:rPr>
              <a:t>Application-Level Middleware</a:t>
            </a:r>
            <a:r>
              <a:rPr lang="en">
                <a:solidFill>
                  <a:srgbClr val="000000"/>
                </a:solidFill>
              </a:rPr>
              <a:t> -&gt; Applies to all routes (or specific paths). Middleware that works for the entire application or specific paths.</a:t>
            </a:r>
            <a:endParaRPr>
              <a:solidFill>
                <a:srgbClr val="000000"/>
              </a:solidFill>
            </a:endParaRPr>
          </a:p>
          <a:p>
            <a:pPr marL="914400" lvl="1" indent="-317500" algn="l" rtl="0">
              <a:spcBef>
                <a:spcPts val="0"/>
              </a:spcBef>
              <a:spcAft>
                <a:spcPts val="0"/>
              </a:spcAft>
              <a:buClr>
                <a:srgbClr val="000000"/>
              </a:buClr>
              <a:buSzPts val="1400"/>
              <a:buChar char="-"/>
            </a:pPr>
            <a:r>
              <a:rPr lang="en">
                <a:solidFill>
                  <a:srgbClr val="000000"/>
                </a:solidFill>
              </a:rPr>
              <a:t>Bound to app using app.use()</a:t>
            </a:r>
            <a:endParaRPr>
              <a:solidFill>
                <a:srgbClr val="000000"/>
              </a:solidFill>
            </a:endParaRPr>
          </a:p>
          <a:p>
            <a:pPr marL="914400" lvl="1" indent="-317500" algn="l" rtl="0">
              <a:spcBef>
                <a:spcPts val="0"/>
              </a:spcBef>
              <a:spcAft>
                <a:spcPts val="0"/>
              </a:spcAft>
              <a:buClr>
                <a:srgbClr val="000000"/>
              </a:buClr>
              <a:buSzPts val="1400"/>
              <a:buChar char="-"/>
            </a:pPr>
            <a:r>
              <a:rPr lang="en">
                <a:solidFill>
                  <a:srgbClr val="000000"/>
                </a:solidFill>
              </a:rPr>
              <a:t>Runs for all routes (or specific paths you choose)</a:t>
            </a:r>
            <a:endParaRPr>
              <a:solidFill>
                <a:srgbClr val="000000"/>
              </a:solidFill>
            </a:endParaRPr>
          </a:p>
        </p:txBody>
      </p:sp>
      <p:pic>
        <p:nvPicPr>
          <p:cNvPr id="130" name="Google Shape;130;p24"/>
          <p:cNvPicPr preferRelativeResize="0"/>
          <p:nvPr/>
        </p:nvPicPr>
        <p:blipFill>
          <a:blip r:embed="rId3">
            <a:alphaModFix/>
          </a:blip>
          <a:stretch>
            <a:fillRect/>
          </a:stretch>
        </p:blipFill>
        <p:spPr>
          <a:xfrm>
            <a:off x="4943700" y="1170125"/>
            <a:ext cx="3492547" cy="382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Types of Middleware </a:t>
            </a:r>
            <a:endParaRPr sz="1577"/>
          </a:p>
        </p:txBody>
      </p:sp>
      <p:sp>
        <p:nvSpPr>
          <p:cNvPr id="136" name="Google Shape;136;p25"/>
          <p:cNvSpPr txBox="1">
            <a:spLocks noGrp="1"/>
          </p:cNvSpPr>
          <p:nvPr>
            <p:ph type="body" idx="1"/>
          </p:nvPr>
        </p:nvSpPr>
        <p:spPr>
          <a:xfrm>
            <a:off x="311700" y="1152475"/>
            <a:ext cx="44796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FF0000"/>
                </a:solidFill>
              </a:rPr>
              <a:t>Router-Level Middleware</a:t>
            </a:r>
            <a:r>
              <a:rPr lang="en" sz="1400">
                <a:solidFill>
                  <a:srgbClr val="000000"/>
                </a:solidFill>
              </a:rPr>
              <a:t> -&gt; Middleware that works only for a specific group of routes (a router).</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Bound to router using router.use()</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Only affects routes in that specific router</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Helps organize large applications</a:t>
            </a:r>
            <a:endParaRPr sz="1400">
              <a:solidFill>
                <a:srgbClr val="000000"/>
              </a:solidFill>
            </a:endParaRPr>
          </a:p>
          <a:p>
            <a:pPr marL="457200" lvl="0" indent="0" algn="l" rtl="0">
              <a:spcBef>
                <a:spcPts val="1200"/>
              </a:spcBef>
              <a:spcAft>
                <a:spcPts val="1200"/>
              </a:spcAft>
              <a:buNone/>
            </a:pPr>
            <a:r>
              <a:rPr lang="en" sz="1400">
                <a:solidFill>
                  <a:srgbClr val="000000"/>
                </a:solidFill>
              </a:rPr>
              <a:t> </a:t>
            </a:r>
            <a:endParaRPr>
              <a:solidFill>
                <a:srgbClr val="000000"/>
              </a:solidFill>
            </a:endParaRPr>
          </a:p>
        </p:txBody>
      </p:sp>
      <p:pic>
        <p:nvPicPr>
          <p:cNvPr id="137" name="Google Shape;137;p25"/>
          <p:cNvPicPr preferRelativeResize="0"/>
          <p:nvPr/>
        </p:nvPicPr>
        <p:blipFill>
          <a:blip r:embed="rId3">
            <a:alphaModFix/>
          </a:blip>
          <a:stretch>
            <a:fillRect/>
          </a:stretch>
        </p:blipFill>
        <p:spPr>
          <a:xfrm>
            <a:off x="5349075" y="1057150"/>
            <a:ext cx="3017988" cy="3820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Types of Middleware </a:t>
            </a:r>
            <a:endParaRPr sz="1577"/>
          </a:p>
        </p:txBody>
      </p:sp>
      <p:sp>
        <p:nvSpPr>
          <p:cNvPr id="143" name="Google Shape;143;p26"/>
          <p:cNvSpPr txBox="1">
            <a:spLocks noGrp="1"/>
          </p:cNvSpPr>
          <p:nvPr>
            <p:ph type="body" idx="1"/>
          </p:nvPr>
        </p:nvSpPr>
        <p:spPr>
          <a:xfrm>
            <a:off x="311700" y="1152475"/>
            <a:ext cx="44796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FF0000"/>
                </a:solidFill>
              </a:rPr>
              <a:t>Built-in Middleware</a:t>
            </a:r>
            <a:r>
              <a:rPr lang="en" sz="1400">
                <a:solidFill>
                  <a:srgbClr val="000000"/>
                </a:solidFill>
              </a:rPr>
              <a:t> -&gt; Middleware that comes with Express (you don't need to install anything extra).</a:t>
            </a:r>
            <a:endParaRPr sz="1400">
              <a:solidFill>
                <a:srgbClr val="000000"/>
              </a:solidFill>
            </a:endParaRPr>
          </a:p>
        </p:txBody>
      </p:sp>
      <p:pic>
        <p:nvPicPr>
          <p:cNvPr id="144" name="Google Shape;144;p26"/>
          <p:cNvPicPr preferRelativeResize="0"/>
          <p:nvPr/>
        </p:nvPicPr>
        <p:blipFill>
          <a:blip r:embed="rId3">
            <a:alphaModFix/>
          </a:blip>
          <a:stretch>
            <a:fillRect/>
          </a:stretch>
        </p:blipFill>
        <p:spPr>
          <a:xfrm>
            <a:off x="4784400" y="1808075"/>
            <a:ext cx="4047899" cy="231724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Routers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a Router?</a:t>
            </a:r>
            <a:endParaRPr sz="1577"/>
          </a:p>
        </p:txBody>
      </p:sp>
      <p:sp>
        <p:nvSpPr>
          <p:cNvPr id="155" name="Google Shape;155;p28"/>
          <p:cNvSpPr txBox="1">
            <a:spLocks noGrp="1"/>
          </p:cNvSpPr>
          <p:nvPr>
            <p:ph type="body" idx="1"/>
          </p:nvPr>
        </p:nvSpPr>
        <p:spPr>
          <a:xfrm>
            <a:off x="311700" y="1152475"/>
            <a:ext cx="82341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In Express, a router is a mini-application that can handle routes. It helps you organize your routes and separate them into modules instead of having all your routes in a single app.js or server.js file.</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Instead of having all the routes in one file, you can have a router for /users, a router for /posts</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Why Use Routers?</a:t>
            </a:r>
            <a:endParaRPr sz="1400">
              <a:solidFill>
                <a:srgbClr val="000000"/>
              </a:solidFill>
            </a:endParaRPr>
          </a:p>
          <a:p>
            <a:pPr marL="914400" lvl="0" indent="-317500" algn="l" rtl="0">
              <a:spcBef>
                <a:spcPts val="0"/>
              </a:spcBef>
              <a:spcAft>
                <a:spcPts val="0"/>
              </a:spcAft>
              <a:buClr>
                <a:srgbClr val="000000"/>
              </a:buClr>
              <a:buSzPts val="1400"/>
              <a:buChar char="-"/>
            </a:pPr>
            <a:r>
              <a:rPr lang="en" sz="1400">
                <a:solidFill>
                  <a:srgbClr val="000000"/>
                </a:solidFill>
              </a:rPr>
              <a:t>To Keep your code clean by splitting routes into separate files.</a:t>
            </a:r>
            <a:endParaRPr sz="14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create a router</a:t>
            </a:r>
            <a:endParaRPr sz="1577"/>
          </a:p>
        </p:txBody>
      </p:sp>
      <p:sp>
        <p:nvSpPr>
          <p:cNvPr id="161" name="Google Shape;161;p29"/>
          <p:cNvSpPr txBox="1">
            <a:spLocks noGrp="1"/>
          </p:cNvSpPr>
          <p:nvPr>
            <p:ph type="body" idx="1"/>
          </p:nvPr>
        </p:nvSpPr>
        <p:spPr>
          <a:xfrm>
            <a:off x="311700" y="1152475"/>
            <a:ext cx="41118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We start by creating a separate file where you will put the specific route in.</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We do not type /users, /users/:id, the router will be known for the specific route as shown.</a:t>
            </a:r>
            <a:endParaRPr sz="1400">
              <a:solidFill>
                <a:srgbClr val="000000"/>
              </a:solidFill>
            </a:endParaRPr>
          </a:p>
          <a:p>
            <a:pPr marL="457200" lvl="0" indent="-317500" algn="l" rtl="0">
              <a:spcBef>
                <a:spcPts val="0"/>
              </a:spcBef>
              <a:spcAft>
                <a:spcPts val="0"/>
              </a:spcAft>
              <a:buClr>
                <a:srgbClr val="000000"/>
              </a:buClr>
              <a:buSzPts val="1400"/>
              <a:buChar char="-"/>
            </a:pPr>
            <a:r>
              <a:rPr lang="en" sz="1400">
                <a:solidFill>
                  <a:srgbClr val="000000"/>
                </a:solidFill>
              </a:rPr>
              <a:t>We just create all the endpoints specific to this route</a:t>
            </a:r>
            <a:endParaRPr sz="1400">
              <a:solidFill>
                <a:srgbClr val="000000"/>
              </a:solidFill>
            </a:endParaRPr>
          </a:p>
        </p:txBody>
      </p:sp>
      <p:pic>
        <p:nvPicPr>
          <p:cNvPr id="162" name="Google Shape;162;p29"/>
          <p:cNvPicPr preferRelativeResize="0"/>
          <p:nvPr/>
        </p:nvPicPr>
        <p:blipFill>
          <a:blip r:embed="rId3">
            <a:alphaModFix/>
          </a:blip>
          <a:stretch>
            <a:fillRect/>
          </a:stretch>
        </p:blipFill>
        <p:spPr>
          <a:xfrm>
            <a:off x="4645975" y="1152475"/>
            <a:ext cx="4186328" cy="38209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Exporting router</a:t>
            </a:r>
            <a:endParaRPr sz="1577"/>
          </a:p>
        </p:txBody>
      </p:sp>
      <p:sp>
        <p:nvSpPr>
          <p:cNvPr id="168" name="Google Shape;168;p30"/>
          <p:cNvSpPr txBox="1">
            <a:spLocks noGrp="1"/>
          </p:cNvSpPr>
          <p:nvPr>
            <p:ph type="body" idx="1"/>
          </p:nvPr>
        </p:nvSpPr>
        <p:spPr>
          <a:xfrm>
            <a:off x="311700" y="1152475"/>
            <a:ext cx="41118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We then export our router to be used in app.js</a:t>
            </a:r>
            <a:endParaRPr sz="1400">
              <a:solidFill>
                <a:srgbClr val="000000"/>
              </a:solidFill>
            </a:endParaRPr>
          </a:p>
        </p:txBody>
      </p:sp>
      <p:pic>
        <p:nvPicPr>
          <p:cNvPr id="169" name="Google Shape;169;p30"/>
          <p:cNvPicPr preferRelativeResize="0"/>
          <p:nvPr/>
        </p:nvPicPr>
        <p:blipFill>
          <a:blip r:embed="rId3">
            <a:alphaModFix/>
          </a:blip>
          <a:stretch>
            <a:fillRect/>
          </a:stretch>
        </p:blipFill>
        <p:spPr>
          <a:xfrm>
            <a:off x="3162300" y="2507975"/>
            <a:ext cx="2819400" cy="361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use router in app.js</a:t>
            </a:r>
            <a:endParaRPr sz="1577"/>
          </a:p>
        </p:txBody>
      </p:sp>
      <p:sp>
        <p:nvSpPr>
          <p:cNvPr id="175" name="Google Shape;175;p31"/>
          <p:cNvSpPr txBox="1">
            <a:spLocks noGrp="1"/>
          </p:cNvSpPr>
          <p:nvPr>
            <p:ph type="body" idx="1"/>
          </p:nvPr>
        </p:nvSpPr>
        <p:spPr>
          <a:xfrm>
            <a:off x="311700" y="1152475"/>
            <a:ext cx="8378400" cy="39909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rgbClr val="000000"/>
              </a:buClr>
              <a:buSzPts val="1400"/>
              <a:buChar char="-"/>
            </a:pPr>
            <a:r>
              <a:rPr lang="en" sz="1400">
                <a:solidFill>
                  <a:srgbClr val="000000"/>
                </a:solidFill>
              </a:rPr>
              <a:t>After exporting the router in the specific routes file, we import the router in </a:t>
            </a:r>
            <a:r>
              <a:rPr lang="en" sz="1400" u="sng">
                <a:solidFill>
                  <a:schemeClr val="hlink"/>
                </a:solidFill>
                <a:hlinkClick r:id="rId3"/>
              </a:rPr>
              <a:t>app.js</a:t>
            </a:r>
            <a:r>
              <a:rPr lang="en" sz="1400">
                <a:solidFill>
                  <a:srgbClr val="000000"/>
                </a:solidFill>
              </a:rPr>
              <a:t> and mount it using the use middleware function as follows</a:t>
            </a:r>
            <a:endParaRPr sz="1400">
              <a:solidFill>
                <a:srgbClr val="000000"/>
              </a:solidFill>
            </a:endParaRPr>
          </a:p>
        </p:txBody>
      </p:sp>
      <p:pic>
        <p:nvPicPr>
          <p:cNvPr id="176" name="Google Shape;176;p31"/>
          <p:cNvPicPr preferRelativeResize="0"/>
          <p:nvPr/>
        </p:nvPicPr>
        <p:blipFill>
          <a:blip r:embed="rId4">
            <a:alphaModFix/>
          </a:blip>
          <a:stretch>
            <a:fillRect/>
          </a:stretch>
        </p:blipFill>
        <p:spPr>
          <a:xfrm>
            <a:off x="2272923" y="2571750"/>
            <a:ext cx="4598150" cy="1356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MongoDB</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MongoDB</a:t>
            </a:r>
            <a:endParaRPr/>
          </a:p>
        </p:txBody>
      </p:sp>
      <p:sp>
        <p:nvSpPr>
          <p:cNvPr id="187" name="Google Shape;187;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17500" algn="l" rtl="0">
              <a:spcBef>
                <a:spcPts val="0"/>
              </a:spcBef>
              <a:spcAft>
                <a:spcPts val="0"/>
              </a:spcAft>
              <a:buClr>
                <a:schemeClr val="dk1"/>
              </a:buClr>
              <a:buSzPts val="1400"/>
              <a:buChar char="-"/>
            </a:pPr>
            <a:r>
              <a:rPr lang="en" sz="1400">
                <a:solidFill>
                  <a:schemeClr val="dk1"/>
                </a:solidFill>
              </a:rPr>
              <a:t>Until now, we have implemented endpoints that fetch data from static arrays defined directly in our code. While this approach works well for learning and small-scale applications, it comes with several critical limitations that make it unsuitable for real-world production environments.</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The main problems with using static arrays are:</a:t>
            </a:r>
            <a:endParaRPr sz="1400">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Data Volatility: All data stored in arrays exists only in the server's memory (RAM). This means that whenever the server restarts—whether due to a crash, deployment, or maintenance—all the data is permanently lost.</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As the application grows and the number of records increases, storing everything in memory becomes impractical. Arrays must be loaded entirely into RAM, which consumes significant resources and slows down the application.</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In modern applications, you often need multiple server instances running simultaneously (for load balancing or high availability). With static arrays, each server instance maintains its own separate copy of the data, leading to inconsistency. Changes made on one server aren't reflected on others.</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MongoDB</a:t>
            </a:r>
            <a:endParaRPr/>
          </a:p>
        </p:txBody>
      </p:sp>
      <p:sp>
        <p:nvSpPr>
          <p:cNvPr id="193" name="Google Shape;193;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That's why we need a database—a dedicated system designed specifically for storing, managing, and retrieving data efficiently and reliably. For this course, we will be using MongoDB, a popular NoSQL database that works exceptionally well with Node.js and Express applications.</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MongoDB?</a:t>
            </a:r>
            <a:endParaRPr/>
          </a:p>
        </p:txBody>
      </p:sp>
      <p:sp>
        <p:nvSpPr>
          <p:cNvPr id="199" name="Google Shape;199;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MongoDB is a document database which is often referred to as a non-relational database. This does not mean that relational data cannot be stored in document databases. It means that relational data is stored differently. A better way to refer to it is as a non-tabular database.</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MongoDB is a NoSQL, document-oriented database. Instead of tables and rows (like SQL), it stores data in JSON-like documents called BSON.</a:t>
            </a:r>
            <a:endParaRPr sz="1400">
              <a:solidFill>
                <a:schemeClr val="dk1"/>
              </a:solidFill>
            </a:endParaRPr>
          </a:p>
        </p:txBody>
      </p:sp>
      <p:pic>
        <p:nvPicPr>
          <p:cNvPr id="200" name="Google Shape;200;p35"/>
          <p:cNvPicPr preferRelativeResize="0"/>
          <p:nvPr/>
        </p:nvPicPr>
        <p:blipFill>
          <a:blip r:embed="rId3">
            <a:alphaModFix/>
          </a:blip>
          <a:stretch>
            <a:fillRect/>
          </a:stretch>
        </p:blipFill>
        <p:spPr>
          <a:xfrm>
            <a:off x="4610213" y="3090975"/>
            <a:ext cx="3857625" cy="1181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MongoDB stores data</a:t>
            </a:r>
            <a:endParaRPr/>
          </a:p>
        </p:txBody>
      </p:sp>
      <p:sp>
        <p:nvSpPr>
          <p:cNvPr id="206" name="Google Shape;206;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rPr>
              <a:t>Records in a MongoDB database are called documents, and the field values may include numbers, strings, booleans, arrays, or even nested documents. The basic data unit in MongoDB</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Looks like JSON</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The following shows an example of a document:</a:t>
            </a:r>
            <a:endParaRPr sz="1400">
              <a:solidFill>
                <a:schemeClr val="dk1"/>
              </a:solidFill>
            </a:endParaRPr>
          </a:p>
          <a:p>
            <a:pPr marL="914400" lvl="0" indent="0" algn="l" rtl="0">
              <a:spcBef>
                <a:spcPts val="1200"/>
              </a:spcBef>
              <a:spcAft>
                <a:spcPts val="1200"/>
              </a:spcAft>
              <a:buNone/>
            </a:pPr>
            <a:endParaRPr sz="1400">
              <a:solidFill>
                <a:schemeClr val="dk1"/>
              </a:solidFill>
            </a:endParaRPr>
          </a:p>
        </p:txBody>
      </p:sp>
      <p:pic>
        <p:nvPicPr>
          <p:cNvPr id="207" name="Google Shape;207;p36"/>
          <p:cNvPicPr preferRelativeResize="0"/>
          <p:nvPr/>
        </p:nvPicPr>
        <p:blipFill>
          <a:blip r:embed="rId3">
            <a:alphaModFix/>
          </a:blip>
          <a:stretch>
            <a:fillRect/>
          </a:stretch>
        </p:blipFill>
        <p:spPr>
          <a:xfrm>
            <a:off x="3101300" y="2571749"/>
            <a:ext cx="2587575" cy="1948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MongoDB Collections</a:t>
            </a:r>
            <a:endParaRPr/>
          </a:p>
        </p:txBody>
      </p:sp>
      <p:sp>
        <p:nvSpPr>
          <p:cNvPr id="213" name="Google Shape;213;p37"/>
          <p:cNvSpPr txBox="1">
            <a:spLocks noGrp="1"/>
          </p:cNvSpPr>
          <p:nvPr>
            <p:ph type="body" idx="1"/>
          </p:nvPr>
        </p:nvSpPr>
        <p:spPr>
          <a:xfrm>
            <a:off x="311700" y="1152475"/>
            <a:ext cx="3795300" cy="3416400"/>
          </a:xfrm>
          <a:prstGeom prst="rect">
            <a:avLst/>
          </a:prstGeom>
        </p:spPr>
        <p:txBody>
          <a:bodyPr spcFirstLastPara="1" wrap="square" lIns="91425" tIns="91425" rIns="91425" bIns="91425" anchor="t" anchorCtr="0">
            <a:normAutofit lnSpcReduction="10000"/>
          </a:bodyPr>
          <a:lstStyle/>
          <a:p>
            <a:pPr marL="457200" lvl="0" indent="-317500" algn="l" rtl="0">
              <a:spcBef>
                <a:spcPts val="0"/>
              </a:spcBef>
              <a:spcAft>
                <a:spcPts val="0"/>
              </a:spcAft>
              <a:buClr>
                <a:schemeClr val="dk1"/>
              </a:buClr>
              <a:buSzPts val="1400"/>
              <a:buChar char="-"/>
            </a:pPr>
            <a:r>
              <a:rPr lang="en" sz="1400">
                <a:solidFill>
                  <a:schemeClr val="dk1"/>
                </a:solidFill>
              </a:rPr>
              <a:t>A collection is where MongoDB stores multiple documents of the same type.</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For example:</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A “users” collection → stores user documents</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A “posts” collection → stores post documents</a:t>
            </a:r>
            <a:endParaRPr sz="1400">
              <a:solidFill>
                <a:schemeClr val="dk1"/>
              </a:solidFill>
            </a:endParaRPr>
          </a:p>
          <a:p>
            <a:pPr marL="914400" lvl="1" indent="-317500" algn="l" rtl="0">
              <a:spcBef>
                <a:spcPts val="0"/>
              </a:spcBef>
              <a:spcAft>
                <a:spcPts val="0"/>
              </a:spcAft>
              <a:buClr>
                <a:schemeClr val="dk1"/>
              </a:buClr>
              <a:buSzPts val="1400"/>
              <a:buChar char="-"/>
            </a:pPr>
            <a:r>
              <a:rPr lang="en" sz="1400">
                <a:solidFill>
                  <a:schemeClr val="dk1"/>
                </a:solidFill>
              </a:rPr>
              <a:t>A “products” collection → stores product documents</a:t>
            </a:r>
            <a:endParaRPr sz="1400">
              <a:solidFill>
                <a:schemeClr val="dk1"/>
              </a:solidFill>
            </a:endParaRPr>
          </a:p>
          <a:p>
            <a:pPr marL="457200" lvl="0" indent="-317500" algn="l" rtl="0">
              <a:spcBef>
                <a:spcPts val="0"/>
              </a:spcBef>
              <a:spcAft>
                <a:spcPts val="0"/>
              </a:spcAft>
              <a:buClr>
                <a:schemeClr val="dk1"/>
              </a:buClr>
              <a:buSzPts val="1400"/>
              <a:buChar char="-"/>
            </a:pPr>
            <a:r>
              <a:rPr lang="en" sz="1400">
                <a:solidFill>
                  <a:schemeClr val="dk1"/>
                </a:solidFill>
              </a:rPr>
              <a:t>Each collection contains many documents arranged logically.</a:t>
            </a:r>
            <a:endParaRPr sz="1400">
              <a:solidFill>
                <a:schemeClr val="dk1"/>
              </a:solidFill>
            </a:endParaRPr>
          </a:p>
          <a:p>
            <a:pPr marL="457200" lvl="0" indent="0" algn="l" rtl="0">
              <a:spcBef>
                <a:spcPts val="1200"/>
              </a:spcBef>
              <a:spcAft>
                <a:spcPts val="0"/>
              </a:spcAft>
              <a:buNone/>
            </a:pPr>
            <a:endParaRPr sz="1400">
              <a:solidFill>
                <a:schemeClr val="dk1"/>
              </a:solidFill>
            </a:endParaRPr>
          </a:p>
          <a:p>
            <a:pPr marL="914400" lvl="0" indent="0" algn="l" rtl="0">
              <a:spcBef>
                <a:spcPts val="1200"/>
              </a:spcBef>
              <a:spcAft>
                <a:spcPts val="1200"/>
              </a:spcAft>
              <a:buNone/>
            </a:pPr>
            <a:endParaRPr sz="1400">
              <a:solidFill>
                <a:schemeClr val="dk1"/>
              </a:solidFill>
            </a:endParaRPr>
          </a:p>
        </p:txBody>
      </p:sp>
      <p:pic>
        <p:nvPicPr>
          <p:cNvPr id="214" name="Google Shape;214;p37"/>
          <p:cNvPicPr preferRelativeResize="0"/>
          <p:nvPr/>
        </p:nvPicPr>
        <p:blipFill>
          <a:blip r:embed="rId3">
            <a:alphaModFix/>
          </a:blip>
          <a:stretch>
            <a:fillRect/>
          </a:stretch>
        </p:blipFill>
        <p:spPr>
          <a:xfrm>
            <a:off x="5587725" y="1017724"/>
            <a:ext cx="2190775" cy="33476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use MongoDB</a:t>
            </a:r>
            <a:endParaRPr/>
          </a:p>
        </p:txBody>
      </p:sp>
      <p:sp>
        <p:nvSpPr>
          <p:cNvPr id="220" name="Google Shape;220;p38"/>
          <p:cNvSpPr txBox="1">
            <a:spLocks noGrp="1"/>
          </p:cNvSpPr>
          <p:nvPr>
            <p:ph type="body" idx="1"/>
          </p:nvPr>
        </p:nvSpPr>
        <p:spPr>
          <a:xfrm>
            <a:off x="311700" y="1152475"/>
            <a:ext cx="8520600" cy="37983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dirty="0">
                <a:solidFill>
                  <a:schemeClr val="dk1"/>
                </a:solidFill>
                <a:highlight>
                  <a:srgbClr val="FFFFFF"/>
                </a:highlight>
              </a:rPr>
              <a:t>After setting up the database in mongodb cloud platform and copying and pasting the url, we need to install mongoose package to be able to connect and interact to our mongodb database using:</a:t>
            </a:r>
            <a:endParaRPr sz="1400" dirty="0">
              <a:solidFill>
                <a:schemeClr val="dk1"/>
              </a:solidFill>
              <a:highlight>
                <a:srgbClr val="FFFFFF"/>
              </a:highlight>
            </a:endParaRPr>
          </a:p>
          <a:p>
            <a:pPr marL="914400" lvl="1" indent="-317500" algn="l" rtl="0">
              <a:spcBef>
                <a:spcPts val="0"/>
              </a:spcBef>
              <a:spcAft>
                <a:spcPts val="0"/>
              </a:spcAft>
              <a:buClr>
                <a:srgbClr val="FF0000"/>
              </a:buClr>
              <a:buSzPts val="1400"/>
              <a:buChar char="-"/>
            </a:pPr>
            <a:r>
              <a:rPr lang="en">
                <a:solidFill>
                  <a:srgbClr val="FF0000"/>
                </a:solidFill>
                <a:highlight>
                  <a:srgbClr val="FFFFFF"/>
                </a:highlight>
              </a:rPr>
              <a:t>Npm </a:t>
            </a:r>
            <a:r>
              <a:rPr lang="en" dirty="0">
                <a:solidFill>
                  <a:srgbClr val="FF0000"/>
                </a:solidFill>
                <a:highlight>
                  <a:srgbClr val="FFFFFF"/>
                </a:highlight>
              </a:rPr>
              <a:t>install mongoose</a:t>
            </a:r>
            <a:endParaRPr dirty="0">
              <a:solidFill>
                <a:schemeClr val="dk1"/>
              </a:solidFill>
              <a:highlight>
                <a:srgbClr val="FFFFFF"/>
              </a:highlight>
            </a:endParaRPr>
          </a:p>
        </p:txBody>
      </p:sp>
      <p:pic>
        <p:nvPicPr>
          <p:cNvPr id="221" name="Google Shape;221;p38"/>
          <p:cNvPicPr preferRelativeResize="0"/>
          <p:nvPr/>
        </p:nvPicPr>
        <p:blipFill>
          <a:blip r:embed="rId3">
            <a:alphaModFix/>
          </a:blip>
          <a:stretch>
            <a:fillRect/>
          </a:stretch>
        </p:blipFill>
        <p:spPr>
          <a:xfrm>
            <a:off x="2203275" y="2235775"/>
            <a:ext cx="4737451" cy="417250"/>
          </a:xfrm>
          <a:prstGeom prst="rect">
            <a:avLst/>
          </a:prstGeom>
          <a:noFill/>
          <a:ln>
            <a:noFill/>
          </a:ln>
        </p:spPr>
      </p:pic>
      <p:pic>
        <p:nvPicPr>
          <p:cNvPr id="222" name="Google Shape;222;p38"/>
          <p:cNvPicPr preferRelativeResize="0"/>
          <p:nvPr/>
        </p:nvPicPr>
        <p:blipFill>
          <a:blip r:embed="rId4">
            <a:alphaModFix/>
          </a:blip>
          <a:stretch>
            <a:fillRect/>
          </a:stretch>
        </p:blipFill>
        <p:spPr>
          <a:xfrm>
            <a:off x="1115950" y="2828877"/>
            <a:ext cx="7270449" cy="2121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Creating a schema</a:t>
            </a:r>
            <a:endParaRPr/>
          </a:p>
        </p:txBody>
      </p:sp>
      <p:sp>
        <p:nvSpPr>
          <p:cNvPr id="228" name="Google Shape;228;p39"/>
          <p:cNvSpPr txBox="1">
            <a:spLocks noGrp="1"/>
          </p:cNvSpPr>
          <p:nvPr>
            <p:ph type="body" idx="1"/>
          </p:nvPr>
        </p:nvSpPr>
        <p:spPr>
          <a:xfrm>
            <a:off x="311700" y="1152475"/>
            <a:ext cx="4174800" cy="37983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A schema is a template that describes what your data should look like.</a:t>
            </a:r>
            <a:endParaRPr sz="1400">
              <a:solidFill>
                <a:schemeClr val="dk1"/>
              </a:solidFill>
              <a:highlight>
                <a:srgbClr val="FFFFFF"/>
              </a:highlight>
            </a:endParaRPr>
          </a:p>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It defines:</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What fields exist</a:t>
            </a:r>
            <a:endParaRPr>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What types those fields must be</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Which fields are required</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Default values</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Validation rules</a:t>
            </a:r>
            <a:endParaRPr sz="1400">
              <a:solidFill>
                <a:schemeClr val="dk1"/>
              </a:solidFill>
              <a:highlight>
                <a:srgbClr val="FFFFFF"/>
              </a:highlight>
            </a:endParaRPr>
          </a:p>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Think of it like a form template every document must follow.</a:t>
            </a:r>
            <a:endParaRPr sz="1400">
              <a:solidFill>
                <a:schemeClr val="dk1"/>
              </a:solidFill>
              <a:highlight>
                <a:srgbClr val="FFFFFF"/>
              </a:highlight>
            </a:endParaRPr>
          </a:p>
          <a:p>
            <a:pPr marL="457200" lvl="0" indent="0" algn="l" rtl="0">
              <a:spcBef>
                <a:spcPts val="1200"/>
              </a:spcBef>
              <a:spcAft>
                <a:spcPts val="0"/>
              </a:spcAft>
              <a:buNone/>
            </a:pPr>
            <a:endParaRPr>
              <a:solidFill>
                <a:schemeClr val="dk1"/>
              </a:solidFill>
              <a:highlight>
                <a:srgbClr val="FFFFFF"/>
              </a:highlight>
            </a:endParaRPr>
          </a:p>
          <a:p>
            <a:pPr marL="914400" lvl="0" indent="0" algn="l" rtl="0">
              <a:spcBef>
                <a:spcPts val="1200"/>
              </a:spcBef>
              <a:spcAft>
                <a:spcPts val="1200"/>
              </a:spcAft>
              <a:buNone/>
            </a:pPr>
            <a:endParaRPr sz="1400">
              <a:solidFill>
                <a:schemeClr val="dk1"/>
              </a:solidFill>
            </a:endParaRPr>
          </a:p>
        </p:txBody>
      </p:sp>
      <p:pic>
        <p:nvPicPr>
          <p:cNvPr id="229" name="Google Shape;229;p39"/>
          <p:cNvPicPr preferRelativeResize="0"/>
          <p:nvPr/>
        </p:nvPicPr>
        <p:blipFill>
          <a:blip r:embed="rId3">
            <a:alphaModFix/>
          </a:blip>
          <a:stretch>
            <a:fillRect/>
          </a:stretch>
        </p:blipFill>
        <p:spPr>
          <a:xfrm>
            <a:off x="5652975" y="1251925"/>
            <a:ext cx="2190750" cy="742950"/>
          </a:xfrm>
          <a:prstGeom prst="rect">
            <a:avLst/>
          </a:prstGeom>
          <a:noFill/>
          <a:ln>
            <a:noFill/>
          </a:ln>
        </p:spPr>
      </p:pic>
      <p:pic>
        <p:nvPicPr>
          <p:cNvPr id="230" name="Google Shape;230;p39"/>
          <p:cNvPicPr preferRelativeResize="0"/>
          <p:nvPr/>
        </p:nvPicPr>
        <p:blipFill>
          <a:blip r:embed="rId4">
            <a:alphaModFix/>
          </a:blip>
          <a:stretch>
            <a:fillRect/>
          </a:stretch>
        </p:blipFill>
        <p:spPr>
          <a:xfrm>
            <a:off x="4638900" y="2147275"/>
            <a:ext cx="4352700" cy="185166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Using the Schema in app</a:t>
            </a:r>
            <a:endParaRPr/>
          </a:p>
        </p:txBody>
      </p:sp>
      <p:sp>
        <p:nvSpPr>
          <p:cNvPr id="236" name="Google Shape;236;p40"/>
          <p:cNvSpPr txBox="1">
            <a:spLocks noGrp="1"/>
          </p:cNvSpPr>
          <p:nvPr>
            <p:ph type="body" idx="1"/>
          </p:nvPr>
        </p:nvSpPr>
        <p:spPr>
          <a:xfrm>
            <a:off x="311700" y="1152475"/>
            <a:ext cx="4174800" cy="37983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Now, what we need to do is import the model we created from the schema. </a:t>
            </a:r>
            <a:endParaRPr sz="1400">
              <a:solidFill>
                <a:schemeClr val="dk1"/>
              </a:solidFill>
              <a:highlight>
                <a:srgbClr val="FFFFFF"/>
              </a:highlight>
            </a:endParaRPr>
          </a:p>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A model is created from a schema.</a:t>
            </a:r>
            <a:endParaRPr sz="1400">
              <a:solidFill>
                <a:schemeClr val="dk1"/>
              </a:solidFill>
              <a:highlight>
                <a:srgbClr val="FFFFFF"/>
              </a:highlight>
            </a:endParaRPr>
          </a:p>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A model is what actually:</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Communicates with the database</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Reads data</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Writes data</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Deletes data</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Updates data</a:t>
            </a:r>
            <a:endParaRPr sz="1400">
              <a:solidFill>
                <a:schemeClr val="dk1"/>
              </a:solidFill>
              <a:highlight>
                <a:srgbClr val="FFFFFF"/>
              </a:highlight>
            </a:endParaRPr>
          </a:p>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A model represents a MongoDB collection.</a:t>
            </a:r>
            <a:endParaRPr sz="1400">
              <a:solidFill>
                <a:schemeClr val="dk1"/>
              </a:solidFill>
            </a:endParaRPr>
          </a:p>
        </p:txBody>
      </p:sp>
      <p:pic>
        <p:nvPicPr>
          <p:cNvPr id="237" name="Google Shape;237;p40"/>
          <p:cNvPicPr preferRelativeResize="0"/>
          <p:nvPr/>
        </p:nvPicPr>
        <p:blipFill>
          <a:blip r:embed="rId3">
            <a:alphaModFix/>
          </a:blip>
          <a:stretch>
            <a:fillRect/>
          </a:stretch>
        </p:blipFill>
        <p:spPr>
          <a:xfrm>
            <a:off x="4734725" y="2401334"/>
            <a:ext cx="3755625" cy="3408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CREATE Operation</a:t>
            </a:r>
            <a:endParaRPr/>
          </a:p>
        </p:txBody>
      </p:sp>
      <p:sp>
        <p:nvSpPr>
          <p:cNvPr id="243" name="Google Shape;243;p41"/>
          <p:cNvSpPr txBox="1">
            <a:spLocks noGrp="1"/>
          </p:cNvSpPr>
          <p:nvPr>
            <p:ph type="body" idx="1"/>
          </p:nvPr>
        </p:nvSpPr>
        <p:spPr>
          <a:xfrm>
            <a:off x="311700" y="1152475"/>
            <a:ext cx="8432700" cy="37983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Now, let’s see how we will use the model to perform crud operations</a:t>
            </a:r>
            <a:endParaRPr sz="1400">
              <a:solidFill>
                <a:schemeClr val="dk1"/>
              </a:solidFill>
              <a:highlight>
                <a:srgbClr val="FFFFFF"/>
              </a:highlight>
            </a:endParaRPr>
          </a:p>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CREATE</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a:solidFill>
                  <a:schemeClr val="dk1"/>
                </a:solidFill>
                <a:highlight>
                  <a:srgbClr val="FFFFFF"/>
                </a:highlight>
              </a:rPr>
              <a:t>This is done using the </a:t>
            </a:r>
            <a:r>
              <a:rPr lang="en">
                <a:solidFill>
                  <a:srgbClr val="FF0000"/>
                </a:solidFill>
                <a:highlight>
                  <a:srgbClr val="FFFFFF"/>
                </a:highlight>
              </a:rPr>
              <a:t>Model.create(data)</a:t>
            </a:r>
            <a:r>
              <a:rPr lang="en">
                <a:solidFill>
                  <a:schemeClr val="dk1"/>
                </a:solidFill>
                <a:highlight>
                  <a:srgbClr val="FFFFFF"/>
                </a:highlight>
              </a:rPr>
              <a:t> function. This function creates and inserts a new document.</a:t>
            </a:r>
            <a:endParaRPr>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a:solidFill>
                  <a:schemeClr val="dk1"/>
                </a:solidFill>
                <a:highlight>
                  <a:srgbClr val="FFFFFF"/>
                </a:highlight>
              </a:rPr>
              <a:t>You can also use the new </a:t>
            </a:r>
            <a:r>
              <a:rPr lang="en">
                <a:solidFill>
                  <a:srgbClr val="FF0000"/>
                </a:solidFill>
                <a:highlight>
                  <a:srgbClr val="FFFFFF"/>
                </a:highlight>
              </a:rPr>
              <a:t>Model(data) + .save()</a:t>
            </a:r>
            <a:r>
              <a:rPr lang="en">
                <a:solidFill>
                  <a:schemeClr val="dk1"/>
                </a:solidFill>
                <a:highlight>
                  <a:srgbClr val="FFFFFF"/>
                </a:highlight>
              </a:rPr>
              <a:t> functions.</a:t>
            </a:r>
            <a:endParaRPr>
              <a:solidFill>
                <a:schemeClr val="dk1"/>
              </a:solidFill>
              <a:highlight>
                <a:srgbClr val="FFFFFF"/>
              </a:highlight>
            </a:endParaRPr>
          </a:p>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The following example shows you how to do it</a:t>
            </a:r>
            <a:endParaRPr sz="1400">
              <a:solidFill>
                <a:schemeClr val="dk1"/>
              </a:solidFill>
              <a:highlight>
                <a:srgbClr val="FFFFFF"/>
              </a:highlight>
            </a:endParaRPr>
          </a:p>
        </p:txBody>
      </p:sp>
      <p:pic>
        <p:nvPicPr>
          <p:cNvPr id="244" name="Google Shape;244;p41"/>
          <p:cNvPicPr preferRelativeResize="0"/>
          <p:nvPr/>
        </p:nvPicPr>
        <p:blipFill>
          <a:blip r:embed="rId3">
            <a:alphaModFix/>
          </a:blip>
          <a:stretch>
            <a:fillRect/>
          </a:stretch>
        </p:blipFill>
        <p:spPr>
          <a:xfrm>
            <a:off x="1329800" y="2942459"/>
            <a:ext cx="6484376" cy="778775"/>
          </a:xfrm>
          <a:prstGeom prst="rect">
            <a:avLst/>
          </a:prstGeom>
          <a:noFill/>
          <a:ln>
            <a:noFill/>
          </a:ln>
        </p:spPr>
      </p:pic>
      <p:pic>
        <p:nvPicPr>
          <p:cNvPr id="245" name="Google Shape;245;p41"/>
          <p:cNvPicPr preferRelativeResize="0"/>
          <p:nvPr/>
        </p:nvPicPr>
        <p:blipFill>
          <a:blip r:embed="rId4">
            <a:alphaModFix/>
          </a:blip>
          <a:stretch>
            <a:fillRect/>
          </a:stretch>
        </p:blipFill>
        <p:spPr>
          <a:xfrm>
            <a:off x="1582288" y="3915050"/>
            <a:ext cx="5979424" cy="931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READ Operation</a:t>
            </a:r>
            <a:endParaRPr/>
          </a:p>
        </p:txBody>
      </p:sp>
      <p:sp>
        <p:nvSpPr>
          <p:cNvPr id="251" name="Google Shape;251;p42"/>
          <p:cNvSpPr txBox="1">
            <a:spLocks noGrp="1"/>
          </p:cNvSpPr>
          <p:nvPr>
            <p:ph type="body" idx="1"/>
          </p:nvPr>
        </p:nvSpPr>
        <p:spPr>
          <a:xfrm>
            <a:off x="311700" y="1152475"/>
            <a:ext cx="8432700" cy="37983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READ</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a:solidFill>
                  <a:schemeClr val="dk1"/>
                </a:solidFill>
                <a:highlight>
                  <a:srgbClr val="FFFFFF"/>
                </a:highlight>
              </a:rPr>
              <a:t>This is done using the </a:t>
            </a:r>
            <a:r>
              <a:rPr lang="en">
                <a:solidFill>
                  <a:srgbClr val="FF0000"/>
                </a:solidFill>
                <a:highlight>
                  <a:srgbClr val="FFFFFF"/>
                </a:highlight>
              </a:rPr>
              <a:t>Post.find(). </a:t>
            </a:r>
            <a:r>
              <a:rPr lang="en">
                <a:solidFill>
                  <a:schemeClr val="dk1"/>
                </a:solidFill>
                <a:highlight>
                  <a:srgbClr val="FFFFFF"/>
                </a:highlight>
              </a:rPr>
              <a:t>This function gets all the documents.</a:t>
            </a:r>
            <a:endParaRPr>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a:solidFill>
                  <a:schemeClr val="dk1"/>
                </a:solidFill>
                <a:highlight>
                  <a:srgbClr val="FFFFFF"/>
                </a:highlight>
              </a:rPr>
              <a:t>You can also use the new </a:t>
            </a:r>
            <a:r>
              <a:rPr lang="en">
                <a:solidFill>
                  <a:srgbClr val="FF0000"/>
                </a:solidFill>
                <a:highlight>
                  <a:schemeClr val="lt1"/>
                </a:highlight>
              </a:rPr>
              <a:t>Post.find(filter)</a:t>
            </a:r>
            <a:r>
              <a:rPr lang="en">
                <a:solidFill>
                  <a:schemeClr val="dk1"/>
                </a:solidFill>
                <a:highlight>
                  <a:srgbClr val="FFFFFF"/>
                </a:highlight>
              </a:rPr>
              <a:t> function to find a specific document.</a:t>
            </a:r>
            <a:endParaRPr>
              <a:solidFill>
                <a:schemeClr val="dk1"/>
              </a:solidFill>
              <a:highlight>
                <a:srgbClr val="FFFFFF"/>
              </a:highlight>
            </a:endParaRPr>
          </a:p>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The following example shows you how to do it</a:t>
            </a:r>
            <a:endParaRPr sz="1400">
              <a:solidFill>
                <a:schemeClr val="dk1"/>
              </a:solidFill>
              <a:highlight>
                <a:srgbClr val="FFFFFF"/>
              </a:highlight>
            </a:endParaRPr>
          </a:p>
        </p:txBody>
      </p:sp>
      <p:pic>
        <p:nvPicPr>
          <p:cNvPr id="252" name="Google Shape;252;p42"/>
          <p:cNvPicPr preferRelativeResize="0"/>
          <p:nvPr/>
        </p:nvPicPr>
        <p:blipFill>
          <a:blip r:embed="rId3">
            <a:alphaModFix/>
          </a:blip>
          <a:stretch>
            <a:fillRect/>
          </a:stretch>
        </p:blipFill>
        <p:spPr>
          <a:xfrm>
            <a:off x="2931413" y="2611950"/>
            <a:ext cx="3281175" cy="8793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UPDATE Operation</a:t>
            </a:r>
            <a:endParaRPr/>
          </a:p>
        </p:txBody>
      </p:sp>
      <p:sp>
        <p:nvSpPr>
          <p:cNvPr id="258" name="Google Shape;258;p43"/>
          <p:cNvSpPr txBox="1">
            <a:spLocks noGrp="1"/>
          </p:cNvSpPr>
          <p:nvPr>
            <p:ph type="body" idx="1"/>
          </p:nvPr>
        </p:nvSpPr>
        <p:spPr>
          <a:xfrm>
            <a:off x="311700" y="1152475"/>
            <a:ext cx="8757900" cy="37983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UPDATE</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a:solidFill>
                  <a:schemeClr val="dk1"/>
                </a:solidFill>
                <a:highlight>
                  <a:srgbClr val="FFFFFF"/>
                </a:highlight>
              </a:rPr>
              <a:t>This is done using the </a:t>
            </a:r>
            <a:r>
              <a:rPr lang="en">
                <a:solidFill>
                  <a:srgbClr val="FF0000"/>
                </a:solidFill>
                <a:highlight>
                  <a:srgbClr val="FFFFFF"/>
                </a:highlight>
              </a:rPr>
              <a:t>Model.updateOne(filter, update). </a:t>
            </a:r>
            <a:r>
              <a:rPr lang="en">
                <a:solidFill>
                  <a:schemeClr val="dk1"/>
                </a:solidFill>
                <a:highlight>
                  <a:srgbClr val="FFFFFF"/>
                </a:highlight>
              </a:rPr>
              <a:t>This function updates the first document that matches the filter, but does NOT return the updated document.</a:t>
            </a:r>
            <a:endParaRPr>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a:solidFill>
                  <a:schemeClr val="dk1"/>
                </a:solidFill>
                <a:highlight>
                  <a:srgbClr val="FFFFFF"/>
                </a:highlight>
              </a:rPr>
              <a:t>You can also use the new </a:t>
            </a:r>
            <a:r>
              <a:rPr lang="en">
                <a:solidFill>
                  <a:srgbClr val="FF0000"/>
                </a:solidFill>
                <a:highlight>
                  <a:schemeClr val="lt1"/>
                </a:highlight>
              </a:rPr>
              <a:t>Model.updateMany(filter, update)</a:t>
            </a:r>
            <a:r>
              <a:rPr lang="en">
                <a:solidFill>
                  <a:schemeClr val="dk1"/>
                </a:solidFill>
                <a:highlight>
                  <a:srgbClr val="FFFFFF"/>
                </a:highlight>
              </a:rPr>
              <a:t> function Updates ALL documents matching the filter but does NOT return updated documents.</a:t>
            </a:r>
            <a:endParaRPr>
              <a:solidFill>
                <a:schemeClr val="dk1"/>
              </a:solidFill>
              <a:highlight>
                <a:srgbClr val="FFFFFF"/>
              </a:highlight>
            </a:endParaRPr>
          </a:p>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The following example shows you how to do it</a:t>
            </a:r>
            <a:endParaRPr sz="1400">
              <a:solidFill>
                <a:schemeClr val="dk1"/>
              </a:solidFill>
              <a:highlight>
                <a:srgbClr val="FFFFFF"/>
              </a:highlight>
            </a:endParaRPr>
          </a:p>
        </p:txBody>
      </p:sp>
      <p:pic>
        <p:nvPicPr>
          <p:cNvPr id="259" name="Google Shape;259;p43"/>
          <p:cNvPicPr preferRelativeResize="0"/>
          <p:nvPr/>
        </p:nvPicPr>
        <p:blipFill>
          <a:blip r:embed="rId3">
            <a:alphaModFix/>
          </a:blip>
          <a:stretch>
            <a:fillRect/>
          </a:stretch>
        </p:blipFill>
        <p:spPr>
          <a:xfrm>
            <a:off x="1862763" y="2788795"/>
            <a:ext cx="5418474" cy="22228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DELETE Operation</a:t>
            </a:r>
            <a:endParaRPr/>
          </a:p>
        </p:txBody>
      </p:sp>
      <p:sp>
        <p:nvSpPr>
          <p:cNvPr id="265" name="Google Shape;265;p44"/>
          <p:cNvSpPr txBox="1">
            <a:spLocks noGrp="1"/>
          </p:cNvSpPr>
          <p:nvPr>
            <p:ph type="body" idx="1"/>
          </p:nvPr>
        </p:nvSpPr>
        <p:spPr>
          <a:xfrm>
            <a:off x="311700" y="1152475"/>
            <a:ext cx="8432700" cy="37983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DELETE</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a:solidFill>
                  <a:schemeClr val="dk1"/>
                </a:solidFill>
                <a:highlight>
                  <a:srgbClr val="FFFFFF"/>
                </a:highlight>
              </a:rPr>
              <a:t>This is done using the </a:t>
            </a:r>
            <a:r>
              <a:rPr lang="en">
                <a:solidFill>
                  <a:srgbClr val="FF0000"/>
                </a:solidFill>
                <a:highlight>
                  <a:srgbClr val="FFFFFF"/>
                </a:highlight>
              </a:rPr>
              <a:t>Model.deleteOne(). </a:t>
            </a:r>
            <a:r>
              <a:rPr lang="en">
                <a:solidFill>
                  <a:schemeClr val="dk1"/>
                </a:solidFill>
                <a:highlight>
                  <a:srgbClr val="FFFFFF"/>
                </a:highlight>
              </a:rPr>
              <a:t>This function Deletes the first matching document but does NOT return the deleted document.</a:t>
            </a:r>
            <a:endParaRPr>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a:solidFill>
                  <a:schemeClr val="dk1"/>
                </a:solidFill>
                <a:highlight>
                  <a:srgbClr val="FFFFFF"/>
                </a:highlight>
              </a:rPr>
              <a:t>You can also use the new </a:t>
            </a:r>
            <a:r>
              <a:rPr lang="en">
                <a:solidFill>
                  <a:srgbClr val="FF0000"/>
                </a:solidFill>
                <a:highlight>
                  <a:schemeClr val="lt1"/>
                </a:highlight>
              </a:rPr>
              <a:t>Model.deleteMany()</a:t>
            </a:r>
            <a:r>
              <a:rPr lang="en">
                <a:solidFill>
                  <a:schemeClr val="dk1"/>
                </a:solidFill>
                <a:highlight>
                  <a:srgbClr val="FFFFFF"/>
                </a:highlight>
              </a:rPr>
              <a:t> function to delete all documents matching the filter, but does NOT return deleted docs.</a:t>
            </a:r>
            <a:endParaRPr>
              <a:solidFill>
                <a:schemeClr val="dk1"/>
              </a:solidFill>
              <a:highlight>
                <a:srgbClr val="FFFFFF"/>
              </a:highlight>
            </a:endParaRPr>
          </a:p>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The following example shows you how to do it</a:t>
            </a:r>
            <a:endParaRPr sz="1400">
              <a:solidFill>
                <a:schemeClr val="dk1"/>
              </a:solidFill>
              <a:highlight>
                <a:srgbClr val="FFFFFF"/>
              </a:highlight>
            </a:endParaRPr>
          </a:p>
        </p:txBody>
      </p:sp>
      <p:pic>
        <p:nvPicPr>
          <p:cNvPr id="266" name="Google Shape;266;p44"/>
          <p:cNvPicPr preferRelativeResize="0"/>
          <p:nvPr/>
        </p:nvPicPr>
        <p:blipFill>
          <a:blip r:embed="rId3">
            <a:alphaModFix/>
          </a:blip>
          <a:stretch>
            <a:fillRect/>
          </a:stretch>
        </p:blipFill>
        <p:spPr>
          <a:xfrm>
            <a:off x="2086675" y="2779750"/>
            <a:ext cx="4970651" cy="21710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Lab Task</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Lab Task (Building a Course Management API (Udemy-Style) Using Express.js, MongoDB &amp; Routers</a:t>
            </a:r>
            <a:endParaRPr/>
          </a:p>
        </p:txBody>
      </p:sp>
      <p:sp>
        <p:nvSpPr>
          <p:cNvPr id="277" name="Google Shape;277;p46"/>
          <p:cNvSpPr txBox="1">
            <a:spLocks noGrp="1"/>
          </p:cNvSpPr>
          <p:nvPr>
            <p:ph type="body" idx="1"/>
          </p:nvPr>
        </p:nvSpPr>
        <p:spPr>
          <a:xfrm>
            <a:off x="311700" y="1624100"/>
            <a:ext cx="8432700" cy="33267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Create a Database Schema called Courses</a:t>
            </a:r>
            <a:endParaRPr sz="1400">
              <a:solidFill>
                <a:schemeClr val="dk1"/>
              </a:solidFill>
              <a:highlight>
                <a:srgbClr val="FFFFFF"/>
              </a:highlight>
            </a:endParaRPr>
          </a:p>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Your task is to build the backend for managing courses.</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Each course should include:</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Title</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Description</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Instructor name</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Price</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Category (e.g., Web Development, Design, Marketing)</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Number of enrolled students (default = 0)</a:t>
            </a:r>
            <a:endParaRPr sz="1400">
              <a:solidFill>
                <a:schemeClr val="dk1"/>
              </a:solidFill>
              <a:highlight>
                <a:srgbClr val="FFFFFF"/>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Lab Task (Building a Course Management API (Udemy-Style) Using Express.js, MongoDB &amp; Routers</a:t>
            </a:r>
            <a:endParaRPr/>
          </a:p>
        </p:txBody>
      </p:sp>
      <p:sp>
        <p:nvSpPr>
          <p:cNvPr id="283" name="Google Shape;283;p47"/>
          <p:cNvSpPr txBox="1">
            <a:spLocks noGrp="1"/>
          </p:cNvSpPr>
          <p:nvPr>
            <p:ph type="body" idx="1"/>
          </p:nvPr>
        </p:nvSpPr>
        <p:spPr>
          <a:xfrm>
            <a:off x="311700" y="1624100"/>
            <a:ext cx="8432700" cy="33267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Clr>
                <a:schemeClr val="dk1"/>
              </a:buClr>
              <a:buSzPts val="1400"/>
              <a:buChar char="-"/>
            </a:pPr>
            <a:r>
              <a:rPr lang="en" sz="1400">
                <a:solidFill>
                  <a:schemeClr val="dk1"/>
                </a:solidFill>
                <a:highlight>
                  <a:srgbClr val="FFFFFF"/>
                </a:highlight>
              </a:rPr>
              <a:t>Students must:</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Build an Express server.</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Use Mongoose to interact with MongoDB.</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Separate route logic using Express Router.</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Implement CRUD operations for courses.</a:t>
            </a:r>
            <a:endParaRPr sz="1400">
              <a:solidFill>
                <a:schemeClr val="dk1"/>
              </a:solidFill>
              <a:highlight>
                <a:srgbClr val="FFFFFF"/>
              </a:highlight>
            </a:endParaRPr>
          </a:p>
          <a:p>
            <a:pPr marL="914400" lvl="1" indent="-317500" algn="l" rtl="0">
              <a:spcBef>
                <a:spcPts val="0"/>
              </a:spcBef>
              <a:spcAft>
                <a:spcPts val="0"/>
              </a:spcAft>
              <a:buClr>
                <a:schemeClr val="dk1"/>
              </a:buClr>
              <a:buSzPts val="1400"/>
              <a:buChar char="-"/>
            </a:pPr>
            <a:r>
              <a:rPr lang="en" sz="1400">
                <a:solidFill>
                  <a:schemeClr val="dk1"/>
                </a:solidFill>
                <a:highlight>
                  <a:srgbClr val="FFFFFF"/>
                </a:highlight>
              </a:rPr>
              <a:t>Test all endpoints with sample data.</a:t>
            </a:r>
            <a:endParaRPr sz="1400">
              <a:solidFill>
                <a:schemeClr val="dk1"/>
              </a:solidFill>
              <a:highlight>
                <a:srgbClr val="FFFFFF"/>
              </a:highlight>
            </a:endParaRPr>
          </a:p>
        </p:txBody>
      </p:sp>
      <p:pic>
        <p:nvPicPr>
          <p:cNvPr id="284" name="Google Shape;284;p47"/>
          <p:cNvPicPr preferRelativeResize="0"/>
          <p:nvPr/>
        </p:nvPicPr>
        <p:blipFill>
          <a:blip r:embed="rId3">
            <a:alphaModFix/>
          </a:blip>
          <a:stretch>
            <a:fillRect/>
          </a:stretch>
        </p:blipFill>
        <p:spPr>
          <a:xfrm>
            <a:off x="5360298" y="2064175"/>
            <a:ext cx="2489050" cy="19493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1819</Words>
  <Application>Microsoft Office PowerPoint</Application>
  <PresentationFormat>On-screen Show (16:9)</PresentationFormat>
  <Paragraphs>175</Paragraphs>
  <Slides>35</Slides>
  <Notes>35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35</vt:i4>
      </vt:variant>
    </vt:vector>
  </HeadingPairs>
  <TitlesOfParts>
    <vt:vector size="37" baseType="lpstr">
      <vt:lpstr>Arial</vt:lpstr>
      <vt:lpstr>Simple Light</vt:lpstr>
      <vt:lpstr>Web Development</vt:lpstr>
      <vt:lpstr>Express Continued</vt:lpstr>
      <vt:lpstr>Express</vt:lpstr>
      <vt:lpstr>Sending back a File</vt:lpstr>
      <vt:lpstr>Sending back a File (cont.)</vt:lpstr>
      <vt:lpstr>Sending back a File (cont.)</vt:lpstr>
      <vt:lpstr>Sending back a File (cont.)</vt:lpstr>
      <vt:lpstr>Sending back a File (cont.)</vt:lpstr>
      <vt:lpstr>Middleware</vt:lpstr>
      <vt:lpstr>What is Middleware?</vt:lpstr>
      <vt:lpstr>Basic Middleware structure</vt:lpstr>
      <vt:lpstr>Types of Middleware </vt:lpstr>
      <vt:lpstr>Types of Middleware </vt:lpstr>
      <vt:lpstr>Types of Middleware </vt:lpstr>
      <vt:lpstr>Routers</vt:lpstr>
      <vt:lpstr>What is a Router?</vt:lpstr>
      <vt:lpstr>How create a router</vt:lpstr>
      <vt:lpstr>Exporting router</vt:lpstr>
      <vt:lpstr>How to use router in app.js</vt:lpstr>
      <vt:lpstr>MongoDB</vt:lpstr>
      <vt:lpstr>MongoDB</vt:lpstr>
      <vt:lpstr>MongoDB</vt:lpstr>
      <vt:lpstr>What is MongoDB?</vt:lpstr>
      <vt:lpstr>How MongoDB stores data</vt:lpstr>
      <vt:lpstr>MongoDB Collections</vt:lpstr>
      <vt:lpstr>How to use MongoDB</vt:lpstr>
      <vt:lpstr>Creating a schema</vt:lpstr>
      <vt:lpstr>Using the Schema in app</vt:lpstr>
      <vt:lpstr>CREATE Operation</vt:lpstr>
      <vt:lpstr>READ Operation</vt:lpstr>
      <vt:lpstr>UPDATE Operation</vt:lpstr>
      <vt:lpstr>DELETE Operation</vt:lpstr>
      <vt:lpstr>Lab Task</vt:lpstr>
      <vt:lpstr>Lab Task (Building a Course Management API (Udemy-Style) Using Express.js, MongoDB &amp; Routers</vt:lpstr>
      <vt:lpstr>Lab Task (Building a Course Management API (Udemy-Style) Using Express.js, MongoDB &amp; Routers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Hamdy  Osama Mohammed El-Sayed Farag</cp:lastModifiedBy>
  <cp:revision>1</cp:revision>
  <dcterms:modified xsi:type="dcterms:W3CDTF">2025-11-30T19:53:59Z</dcterms:modified>
</cp:coreProperties>
</file>